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0688625" cx="7562850"/>
  <p:notesSz cx="10688625"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6">
          <p15:clr>
            <a:srgbClr val="A4A3A4"/>
          </p15:clr>
        </p15:guide>
        <p15:guide id="2" pos="2382">
          <p15:clr>
            <a:srgbClr val="A4A3A4"/>
          </p15:clr>
        </p15:guide>
      </p15:sldGuideLst>
    </p:ext>
    <p:ext uri="GoogleSlidesCustomDataVersion2">
      <go:slidesCustomData xmlns:go="http://customooxmlschemas.google.com/" r:id="rId7" roundtripDataSignature="AMtx7mhZ2t1/qFEZG1YtLRGqXKWdZX9x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6"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81775" y="567200"/>
            <a:ext cx="7126100"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8850" y="3592350"/>
            <a:ext cx="8550900" cy="3403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438150" y="0"/>
            <a:ext cx="212407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[Sources]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User-uploaded document: Báo giá.docx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Embedded logo and stamp extracted from the same uploaded document.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id="12" name="Google Shape;12;p1"/>
          <p:cNvPicPr preferRelativeResize="0"/>
          <p:nvPr/>
        </p:nvPicPr>
        <p:blipFill rotWithShape="1">
          <a:blip r:embed="rId3">
            <a:alphaModFix amt="5000"/>
          </a:blip>
          <a:srcRect l="0" t="-2216" r="0" b="36863"/>
          <a:stretch/>
        </p:blipFill>
        <p:spPr>
          <a:xfrm>
            <a:off x="445007" y="2755044"/>
            <a:ext cx="6781800" cy="4252998"/>
          </a:xfrm>
          <a:prstGeom prst="rect">
            <a:avLst/>
          </a:prstGeom>
          <a:noFill/>
          <a:ln>
            <a:noFill/>
          </a:ln>
        </p:spPr>
      </p:pic>
      <p:cxnSp>
        <p:nvCxnSpPr>
          <p:cNvPr id="13" name="Google Shape;13;p1"/>
          <p:cNvCxnSpPr/>
          <p:nvPr/>
        </p:nvCxnSpPr>
        <p:spPr>
          <a:xfrm>
            <a:off x="530352" y="475488"/>
            <a:ext cx="6446520" cy="0"/>
          </a:xfrm>
          <a:prstGeom prst="straightConnector1">
            <a:avLst/>
          </a:prstGeom>
          <a:noFill/>
          <a:ln w="12700" cap="flat" cmpd="sng">
            <a:solidFill>
              <a:srgbClr val="D5DEE6"/>
            </a:solidFill>
            <a:prstDash val="solid"/>
            <a:round/>
            <a:headEnd type="none" w="sm" len="sm"/>
            <a:tailEnd type="none" w="sm" len="sm"/>
          </a:ln>
        </p:spPr>
      </p:cxnSp>
      <p:cxnSp>
        <p:nvCxnSpPr>
          <p:cNvPr id="14" name="Google Shape;14;p1"/>
          <p:cNvCxnSpPr/>
          <p:nvPr/>
        </p:nvCxnSpPr>
        <p:spPr>
          <a:xfrm>
            <a:off x="530352" y="10122408"/>
            <a:ext cx="6446520" cy="0"/>
          </a:xfrm>
          <a:prstGeom prst="straightConnector1">
            <a:avLst/>
          </a:prstGeom>
          <a:noFill/>
          <a:ln w="12700" cap="flat" cmpd="sng">
            <a:solidFill>
              <a:srgbClr val="E3E8ED"/>
            </a:solidFill>
            <a:prstDash val="solid"/>
            <a:round/>
            <a:headEnd type="none" w="sm" len="sm"/>
            <a:tailEnd type="none" w="sm" len="sm"/>
          </a:ln>
        </p:spPr>
      </p:cxnSp>
      <p:sp>
        <p:nvSpPr>
          <p:cNvPr id="15" name="Google Shape;15;p1"/>
          <p:cNvSpPr/>
          <p:nvPr/>
        </p:nvSpPr>
        <p:spPr>
          <a:xfrm>
            <a:off x="1508760" y="10168128"/>
            <a:ext cx="4480560" cy="1463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20"/>
              <a:buFont typeface="Arial"/>
              <a:buNone/>
            </a:pPr>
            <a:r>
              <a:rPr lang="en-US" sz="720" b="0" i="0" u="none" strike="noStrike" cap="none">
                <a:solidFill>
                  <a:srgbClr val="7A8590"/>
                </a:solidFill>
                <a:latin typeface="Arial"/>
                <a:ea typeface="Arial"/>
                <a:cs typeface="Arial"/>
                <a:sym typeface="Arial"/>
              </a:rPr>
              <a:t>© 2026 An Binh Chemtech. All rights reserved.</a:t>
            </a:r>
            <a:endParaRPr sz="720" b="0" i="0" u="none" strike="noStrike" cap="none">
              <a:solidFill>
                <a:schemeClr val="dk1"/>
              </a:solidFill>
              <a:latin typeface="Arial"/>
              <a:ea typeface="Arial"/>
              <a:cs typeface="Arial"/>
              <a:sym typeface="Arial"/>
            </a:endParaRPr>
          </a:p>
        </p:txBody>
      </p:sp>
      <p:pic>
        <p:nvPicPr>
          <p:cNvPr id="16" name="Google Shape;16;p1" descr="/mnt/data/bao_media/image1.png"/>
          <p:cNvPicPr preferRelativeResize="0"/>
          <p:nvPr/>
        </p:nvPicPr>
        <p:blipFill rotWithShape="1">
          <a:blip r:embed="rId4">
            <a:alphaModFix/>
          </a:blip>
          <a:srcRect l="0" t="0" r="0" b="0"/>
          <a:stretch/>
        </p:blipFill>
        <p:spPr>
          <a:xfrm>
            <a:off x="621792" y="579136"/>
            <a:ext cx="1097280" cy="1097280"/>
          </a:xfrm>
          <a:prstGeom prst="rect">
            <a:avLst/>
          </a:prstGeom>
          <a:noFill/>
          <a:ln>
            <a:noFill/>
          </a:ln>
        </p:spPr>
      </p:pic>
      <p:sp>
        <p:nvSpPr>
          <p:cNvPr id="17" name="Google Shape;17;p1"/>
          <p:cNvSpPr/>
          <p:nvPr/>
        </p:nvSpPr>
        <p:spPr>
          <a:xfrm>
            <a:off x="1938528" y="731520"/>
            <a:ext cx="5074920" cy="868680"/>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0" tIns="1250" rIns="1250" bIns="1250" anchor="ctr" anchorCtr="0">
            <a:normAutofit/>
          </a:bodyPr>
          <a:lstStyle/>
          <a:p>
            <a:pPr marL="0" marR="0" lvl="0" indent="0" algn="ctr" rtl="0">
              <a:lnSpc>
                <a:spcPct val="100000"/>
              </a:lnSpc>
              <a:spcBef>
                <a:spcPts val="0"/>
              </a:spcBef>
              <a:spcAft>
                <a:spcPts val="0"/>
              </a:spcAft>
              <a:buClr>
                <a:srgbClr val="1F3D5B"/>
              </a:buClr>
              <a:buSzPts val="1600"/>
              <a:buFont typeface="Arial"/>
              <a:buNone/>
            </a:pPr>
            <a:r>
              <a:rPr lang="en-US" sz="1600" b="1" i="0" u="none" strike="noStrike" cap="none">
                <a:solidFill>
                  <a:srgbClr val="1F3D5B"/>
                </a:solidFill>
                <a:latin typeface="Arial"/>
                <a:ea typeface="Arial"/>
                <a:cs typeface="Arial"/>
                <a:sym typeface="Arial"/>
              </a:rPr>
              <a:t>CÔNG TY TNHH AN BÌNH CHEMTECH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5313C"/>
              </a:buClr>
              <a:buSzPts val="1050"/>
              <a:buFont typeface="Arial"/>
              <a:buNone/>
            </a:pPr>
            <a:r>
              <a:rPr lang="en-US" sz="1050" b="0" i="0" u="none" strike="noStrike" cap="none">
                <a:solidFill>
                  <a:srgbClr val="25313C"/>
                </a:solidFill>
                <a:latin typeface="Arial"/>
                <a:ea typeface="Arial"/>
                <a:cs typeface="Arial"/>
                <a:sym typeface="Arial"/>
              </a:rPr>
              <a:t>Địa chỉ: 408/1 Nguyễn Thị Minh Khai, Phường Bàn Cờ, TP. Hồ Chí Minh, Việt Nam</a:t>
            </a:r>
            <a:br>
              <a:rPr lang="en-US" sz="1050" b="0" i="0" u="none" strike="noStrike" cap="none">
                <a:solidFill>
                  <a:srgbClr val="25313C"/>
                </a:solidFill>
                <a:latin typeface="Arial"/>
                <a:ea typeface="Arial"/>
                <a:cs typeface="Arial"/>
                <a:sym typeface="Arial"/>
              </a:rPr>
            </a:br>
            <a:r>
              <a:rPr lang="en-US" sz="1050" b="0" i="0" u="none" strike="noStrike" cap="none">
                <a:solidFill>
                  <a:srgbClr val="25313C"/>
                </a:solidFill>
                <a:latin typeface="Arial"/>
                <a:ea typeface="Arial"/>
                <a:cs typeface="Arial"/>
                <a:sym typeface="Arial"/>
              </a:rPr>
              <a:t>SĐT: 0382.184.100          Email: info@anbinhchem.com.vn</a:t>
            </a:r>
            <a:endParaRPr sz="1000" b="0" i="0" u="none" strike="noStrike" cap="none">
              <a:solidFill>
                <a:schemeClr val="dk1"/>
              </a:solidFill>
              <a:latin typeface="Arial"/>
              <a:ea typeface="Arial"/>
              <a:cs typeface="Arial"/>
              <a:sym typeface="Arial"/>
            </a:endParaRPr>
          </a:p>
        </p:txBody>
      </p:sp>
      <p:sp>
        <p:nvSpPr>
          <p:cNvPr id="18" name="Google Shape;18;p1"/>
          <p:cNvSpPr/>
          <p:nvPr/>
        </p:nvSpPr>
        <p:spPr>
          <a:xfrm>
            <a:off x="1349111" y="1752895"/>
            <a:ext cx="4973593"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1F3D5B"/>
                </a:solidFill>
                <a:latin typeface="Arial"/>
                <a:ea typeface="Arial"/>
                <a:cs typeface="Arial"/>
                <a:sym typeface="Arial"/>
              </a:rPr>
              <a:t>BẢNG BÁO GIÁ</a:t>
            </a:r>
            <a:endParaRPr sz="2400" b="0" i="0" u="none" strike="noStrike" cap="none">
              <a:solidFill>
                <a:schemeClr val="dk1"/>
              </a:solidFill>
              <a:latin typeface="Arial"/>
              <a:ea typeface="Arial"/>
              <a:cs typeface="Arial"/>
              <a:sym typeface="Arial"/>
            </a:endParaRPr>
          </a:p>
        </p:txBody>
      </p:sp>
      <p:sp>
        <p:nvSpPr>
          <p:cNvPr id="19" name="Google Shape;19;p1"/>
          <p:cNvSpPr/>
          <p:nvPr/>
        </p:nvSpPr>
        <p:spPr>
          <a:xfrm>
            <a:off x="621792" y="2542473"/>
            <a:ext cx="1005840" cy="322795"/>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1F3D5B"/>
              </a:buClr>
              <a:buSzPts val="1200"/>
              <a:buFont typeface="Arial"/>
              <a:buNone/>
            </a:pPr>
            <a:r>
              <a:rPr lang="en-US" sz="1200" b="1" i="0" u="none" strike="noStrike" cap="none">
                <a:solidFill>
                  <a:srgbClr val="1F3D5B"/>
                </a:solidFill>
                <a:latin typeface="Arial"/>
                <a:ea typeface="Arial"/>
                <a:cs typeface="Arial"/>
                <a:sym typeface="Arial"/>
              </a:rPr>
              <a:t>Kính gửi:</a:t>
            </a:r>
            <a:endParaRPr sz="1200" b="0" i="0" u="none" strike="noStrike" cap="none">
              <a:solidFill>
                <a:schemeClr val="dk1"/>
              </a:solidFill>
              <a:latin typeface="Arial"/>
              <a:ea typeface="Arial"/>
              <a:cs typeface="Arial"/>
              <a:sym typeface="Arial"/>
            </a:endParaRPr>
          </a:p>
        </p:txBody>
      </p:sp>
      <p:sp>
        <p:nvSpPr>
          <p:cNvPr id="20" name="Google Shape;20;p1"/>
          <p:cNvSpPr/>
          <p:nvPr/>
        </p:nvSpPr>
        <p:spPr>
          <a:xfrm>
            <a:off x="1627632" y="2542473"/>
            <a:ext cx="5349240" cy="322795"/>
          </a:xfrm>
          <a:prstGeom prst="rect">
            <a:avLst/>
          </a:prstGeom>
          <a:solidFill>
            <a:srgbClr val="FFFFFF"/>
          </a:solidFill>
          <a:ln w="9525" cap="flat" cmpd="sng">
            <a:solidFill>
              <a:srgbClr val="CAD6DD"/>
            </a:solidFill>
            <a:prstDash val="solid"/>
            <a:round/>
            <a:headEnd type="none" w="sm" len="sm"/>
            <a:tailEnd type="none" w="sm" len="sm"/>
          </a:ln>
        </p:spPr>
        <p:txBody>
          <a:bodyPr spcFirstLastPara="1" wrap="square" lIns="1250" tIns="164575" rIns="1250" bIns="1250" anchor="ctr" anchorCtr="0">
            <a:normAutofit/>
          </a:bodyPr>
          <a:lstStyle/>
          <a:p>
            <a:pPr marL="0" marR="0" lvl="0" indent="0" algn="l" rtl="0">
              <a:lnSpc>
                <a:spcPct val="100000"/>
              </a:lnSpc>
              <a:spcBef>
                <a:spcPts val="0"/>
              </a:spcBef>
              <a:spcAft>
                <a:spcPts val="0"/>
              </a:spcAft>
              <a:buNone/>
            </a:pPr>
            <a:r>
              <a:rPr lang="en-US" sz="1000" b="0" i="0" u="none" strike="noStrike" cap="none">
                <a:solidFill>
                  <a:schemeClr val="dk1"/>
                </a:solidFill>
                <a:latin typeface="Arial"/>
                <a:ea typeface="Arial"/>
                <a:cs typeface="Arial"/>
                <a:sym typeface="Arial"/>
              </a:rPr>
              <a:t>  Quý khách hàng / Quý đối tác: </a:t>
            </a:r>
            <a:r>
              <a:rPr lang="en-US" sz="1000" b="0" i="0" u="none" strike="noStrike" cap="none">
                <a:solidFill>
                  <a:srgbClr val="000000"/>
                </a:solidFill>
                <a:latin typeface="Arial"/>
                <a:ea typeface="Arial"/>
                <a:cs typeface="Arial"/>
                <a:sym typeface="Arial"/>
              </a:rPr>
              <a:t>Công ty Cổ phần Thực phẩm Á Châu (Asia Foods)</a:t>
            </a:r>
            <a:endParaRPr sz="10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t/>
            </a:r>
            <a:endParaRPr sz="1000" b="0" i="0" u="none" strike="noStrike" cap="none">
              <a:solidFill>
                <a:schemeClr val="dk1"/>
              </a:solidFill>
              <a:latin typeface="Arial"/>
              <a:ea typeface="Arial"/>
              <a:cs typeface="Arial"/>
              <a:sym typeface="Arial"/>
            </a:endParaRPr>
          </a:p>
        </p:txBody>
      </p:sp>
      <p:sp>
        <p:nvSpPr>
          <p:cNvPr id="21" name="Google Shape;21;p1"/>
          <p:cNvSpPr/>
          <p:nvPr/>
        </p:nvSpPr>
        <p:spPr>
          <a:xfrm>
            <a:off x="621792" y="2974996"/>
            <a:ext cx="6355080" cy="658835"/>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50"/>
              <a:buFont typeface="Arial"/>
              <a:buNone/>
            </a:pPr>
            <a:r>
              <a:rPr lang="en-US" sz="1000" b="0" i="0" u="none" strike="noStrike" cap="none">
                <a:solidFill>
                  <a:srgbClr val="25313C"/>
                </a:solidFill>
                <a:latin typeface="Arial"/>
                <a:ea typeface="Arial"/>
                <a:cs typeface="Arial"/>
                <a:sym typeface="Arial"/>
              </a:rPr>
              <a:t>Lời đầu tiên, An Bình xin gửi lời cảm ơn chân thành đến Quý công ty đã quan tâm và tin dùng các dòng sản phẩm muối Phosphate do chúng tôi phân phối. Với cam kết về chất lượng và sự tận tâm, chúng tôi hân hạnh gửi đến Quý khách bảng báo giá ưu đãi nhất như sau:</a:t>
            </a:r>
            <a:endParaRPr sz="1000" b="0" i="0" u="none" strike="noStrike" cap="none">
              <a:solidFill>
                <a:schemeClr val="dk1"/>
              </a:solidFill>
              <a:latin typeface="Arial"/>
              <a:ea typeface="Arial"/>
              <a:cs typeface="Arial"/>
              <a:sym typeface="Arial"/>
            </a:endParaRPr>
          </a:p>
        </p:txBody>
      </p:sp>
      <p:sp>
        <p:nvSpPr>
          <p:cNvPr id="22" name="Google Shape;22;p1"/>
          <p:cNvSpPr/>
          <p:nvPr/>
        </p:nvSpPr>
        <p:spPr>
          <a:xfrm>
            <a:off x="621792" y="3722517"/>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Danh mục sản phẩm &amp; đơn giá</a:t>
            </a:r>
            <a:endParaRPr sz="1600" b="0" i="0" u="none" strike="noStrike" cap="none">
              <a:solidFill>
                <a:schemeClr val="dk1"/>
              </a:solidFill>
              <a:latin typeface="Arial"/>
              <a:ea typeface="Arial"/>
              <a:cs typeface="Arial"/>
              <a:sym typeface="Arial"/>
            </a:endParaRPr>
          </a:p>
        </p:txBody>
      </p:sp>
      <p:sp>
        <p:nvSpPr>
          <p:cNvPr id="23" name="Google Shape;23;p1"/>
          <p:cNvSpPr/>
          <p:nvPr/>
        </p:nvSpPr>
        <p:spPr>
          <a:xfrm>
            <a:off x="621792" y="3996837"/>
            <a:ext cx="406168"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STT</a:t>
            </a:r>
            <a:endParaRPr sz="1020" b="0" i="0" u="none" strike="noStrike" cap="none">
              <a:solidFill>
                <a:schemeClr val="dk1"/>
              </a:solidFill>
              <a:latin typeface="Arial"/>
              <a:ea typeface="Arial"/>
              <a:cs typeface="Arial"/>
              <a:sym typeface="Arial"/>
            </a:endParaRPr>
          </a:p>
        </p:txBody>
      </p:sp>
      <p:sp>
        <p:nvSpPr>
          <p:cNvPr id="24" name="Google Shape;24;p1"/>
          <p:cNvSpPr/>
          <p:nvPr/>
        </p:nvSpPr>
        <p:spPr>
          <a:xfrm>
            <a:off x="1027961" y="3996837"/>
            <a:ext cx="289837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Tên hàng</a:t>
            </a:r>
            <a:endParaRPr sz="1020" b="0" i="0" u="none" strike="noStrike" cap="none">
              <a:solidFill>
                <a:schemeClr val="dk1"/>
              </a:solidFill>
              <a:latin typeface="Arial"/>
              <a:ea typeface="Arial"/>
              <a:cs typeface="Arial"/>
              <a:sym typeface="Arial"/>
            </a:endParaRPr>
          </a:p>
        </p:txBody>
      </p:sp>
      <p:sp>
        <p:nvSpPr>
          <p:cNvPr id="25" name="Google Shape;25;p1"/>
          <p:cNvSpPr/>
          <p:nvPr/>
        </p:nvSpPr>
        <p:spPr>
          <a:xfrm>
            <a:off x="4839993" y="3996837"/>
            <a:ext cx="1005840"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(chưa VAT)</a:t>
            </a:r>
            <a:endParaRPr sz="1020" b="0" i="0" u="none" strike="noStrike" cap="none">
              <a:solidFill>
                <a:schemeClr val="dk1"/>
              </a:solidFill>
              <a:latin typeface="Arial"/>
              <a:ea typeface="Arial"/>
              <a:cs typeface="Arial"/>
              <a:sym typeface="Arial"/>
            </a:endParaRPr>
          </a:p>
        </p:txBody>
      </p:sp>
      <p:sp>
        <p:nvSpPr>
          <p:cNvPr id="26" name="Google Shape;26;p1"/>
          <p:cNvSpPr/>
          <p:nvPr/>
        </p:nvSpPr>
        <p:spPr>
          <a:xfrm>
            <a:off x="5845831" y="3996837"/>
            <a:ext cx="113104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(Đã bao gồm VAT)</a:t>
            </a:r>
            <a:endParaRPr sz="1020" b="0" i="0" u="none" strike="noStrike" cap="none">
              <a:solidFill>
                <a:schemeClr val="dk1"/>
              </a:solidFill>
              <a:latin typeface="Arial"/>
              <a:ea typeface="Arial"/>
              <a:cs typeface="Arial"/>
              <a:sym typeface="Arial"/>
            </a:endParaRPr>
          </a:p>
        </p:txBody>
      </p:sp>
      <p:sp>
        <p:nvSpPr>
          <p:cNvPr id="27" name="Google Shape;27;p1"/>
          <p:cNvSpPr/>
          <p:nvPr/>
        </p:nvSpPr>
        <p:spPr>
          <a:xfrm>
            <a:off x="621792" y="4472325"/>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1</a:t>
            </a:r>
            <a:endParaRPr sz="1040" b="1" i="0" u="none" strike="noStrike" cap="none">
              <a:solidFill>
                <a:schemeClr val="dk1"/>
              </a:solidFill>
              <a:latin typeface="Arial"/>
              <a:ea typeface="Arial"/>
              <a:cs typeface="Arial"/>
              <a:sym typeface="Arial"/>
            </a:endParaRPr>
          </a:p>
        </p:txBody>
      </p:sp>
      <p:sp>
        <p:nvSpPr>
          <p:cNvPr id="28" name="Google Shape;28;p1"/>
          <p:cNvSpPr/>
          <p:nvPr/>
        </p:nvSpPr>
        <p:spPr>
          <a:xfrm>
            <a:off x="1027961" y="4472325"/>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Tetrasodium Pyrophosphate (TSPP)</a:t>
            </a:r>
            <a:endParaRPr sz="1200" b="1" i="0" u="none" strike="noStrike" cap="none">
              <a:solidFill>
                <a:schemeClr val="dk1"/>
              </a:solidFill>
              <a:latin typeface="Arial"/>
              <a:ea typeface="Arial"/>
              <a:cs typeface="Arial"/>
              <a:sym typeface="Arial"/>
            </a:endParaRPr>
          </a:p>
        </p:txBody>
      </p:sp>
      <p:sp>
        <p:nvSpPr>
          <p:cNvPr id="29" name="Google Shape;29;p1"/>
          <p:cNvSpPr/>
          <p:nvPr/>
        </p:nvSpPr>
        <p:spPr>
          <a:xfrm>
            <a:off x="4837176" y="4496070"/>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0" name="Google Shape;30;p1"/>
          <p:cNvSpPr/>
          <p:nvPr/>
        </p:nvSpPr>
        <p:spPr>
          <a:xfrm>
            <a:off x="5845831" y="4472325"/>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1" name="Google Shape;31;p1"/>
          <p:cNvSpPr/>
          <p:nvPr/>
        </p:nvSpPr>
        <p:spPr>
          <a:xfrm>
            <a:off x="621792" y="4892949"/>
            <a:ext cx="406168"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a:t>
            </a:r>
            <a:endParaRPr sz="1040" b="1" i="0" u="none" strike="noStrike" cap="none">
              <a:solidFill>
                <a:schemeClr val="dk1"/>
              </a:solidFill>
              <a:latin typeface="Arial"/>
              <a:ea typeface="Arial"/>
              <a:cs typeface="Arial"/>
              <a:sym typeface="Arial"/>
            </a:endParaRPr>
          </a:p>
        </p:txBody>
      </p:sp>
      <p:sp>
        <p:nvSpPr>
          <p:cNvPr id="32" name="Google Shape;32;p1"/>
          <p:cNvSpPr/>
          <p:nvPr/>
        </p:nvSpPr>
        <p:spPr>
          <a:xfrm>
            <a:off x="1027960" y="4892949"/>
            <a:ext cx="2898271"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Tripolyphosphate (STPP)</a:t>
            </a:r>
            <a:endParaRPr sz="1200" b="1" i="0" u="none" strike="noStrike" cap="none">
              <a:solidFill>
                <a:schemeClr val="dk1"/>
              </a:solidFill>
              <a:latin typeface="Arial"/>
              <a:ea typeface="Arial"/>
              <a:cs typeface="Arial"/>
              <a:sym typeface="Arial"/>
            </a:endParaRPr>
          </a:p>
        </p:txBody>
      </p:sp>
      <p:sp>
        <p:nvSpPr>
          <p:cNvPr id="33" name="Google Shape;33;p1"/>
          <p:cNvSpPr/>
          <p:nvPr/>
        </p:nvSpPr>
        <p:spPr>
          <a:xfrm>
            <a:off x="4839993" y="4892949"/>
            <a:ext cx="1005900"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4" name="Google Shape;34;p1"/>
          <p:cNvSpPr/>
          <p:nvPr/>
        </p:nvSpPr>
        <p:spPr>
          <a:xfrm>
            <a:off x="5845831" y="4892949"/>
            <a:ext cx="1131041"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rgbClr val="000000"/>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5" name="Google Shape;35;p1"/>
          <p:cNvSpPr/>
          <p:nvPr/>
        </p:nvSpPr>
        <p:spPr>
          <a:xfrm>
            <a:off x="621792" y="5313573"/>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3</a:t>
            </a:r>
            <a:endParaRPr sz="1040" b="1" i="0" u="none" strike="noStrike" cap="none">
              <a:solidFill>
                <a:schemeClr val="dk1"/>
              </a:solidFill>
              <a:latin typeface="Arial"/>
              <a:ea typeface="Arial"/>
              <a:cs typeface="Arial"/>
              <a:sym typeface="Arial"/>
            </a:endParaRPr>
          </a:p>
        </p:txBody>
      </p:sp>
      <p:sp>
        <p:nvSpPr>
          <p:cNvPr id="36" name="Google Shape;36;p1"/>
          <p:cNvSpPr/>
          <p:nvPr/>
        </p:nvSpPr>
        <p:spPr>
          <a:xfrm>
            <a:off x="1027961" y="5313573"/>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Hexametaphosphate (SHMP)</a:t>
            </a:r>
            <a:endParaRPr sz="1200" b="1" i="0" u="none" strike="noStrike" cap="none">
              <a:solidFill>
                <a:schemeClr val="dk1"/>
              </a:solidFill>
              <a:latin typeface="Arial"/>
              <a:ea typeface="Arial"/>
              <a:cs typeface="Arial"/>
              <a:sym typeface="Arial"/>
            </a:endParaRPr>
          </a:p>
        </p:txBody>
      </p:sp>
      <p:sp>
        <p:nvSpPr>
          <p:cNvPr id="37" name="Google Shape;37;p1"/>
          <p:cNvSpPr/>
          <p:nvPr/>
        </p:nvSpPr>
        <p:spPr>
          <a:xfrm>
            <a:off x="4839993" y="5313573"/>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8" name="Google Shape;38;p1"/>
          <p:cNvSpPr/>
          <p:nvPr/>
        </p:nvSpPr>
        <p:spPr>
          <a:xfrm>
            <a:off x="5845831" y="5313573"/>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58,519</a:t>
            </a:r>
            <a:endParaRPr sz="1200" b="1" i="0" u="none" strike="noStrike" cap="none">
              <a:solidFill>
                <a:schemeClr val="dk1"/>
              </a:solidFill>
              <a:latin typeface="Arial"/>
              <a:ea typeface="Arial"/>
              <a:cs typeface="Arial"/>
              <a:sym typeface="Arial"/>
            </a:endParaRPr>
          </a:p>
        </p:txBody>
      </p:sp>
      <p:sp>
        <p:nvSpPr>
          <p:cNvPr id="39" name="Google Shape;39;p1"/>
          <p:cNvSpPr/>
          <p:nvPr/>
        </p:nvSpPr>
        <p:spPr>
          <a:xfrm>
            <a:off x="621792" y="6026805"/>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Các điều khoản &amp; chính sách thương mại</a:t>
            </a:r>
            <a:endParaRPr sz="1600" b="0" i="0" u="none" strike="noStrike" cap="none">
              <a:solidFill>
                <a:schemeClr val="dk1"/>
              </a:solidFill>
              <a:latin typeface="Arial"/>
              <a:ea typeface="Arial"/>
              <a:cs typeface="Arial"/>
              <a:sym typeface="Arial"/>
            </a:endParaRPr>
          </a:p>
        </p:txBody>
      </p:sp>
      <p:sp>
        <p:nvSpPr>
          <p:cNvPr id="40" name="Google Shape;40;p1"/>
          <p:cNvSpPr/>
          <p:nvPr/>
        </p:nvSpPr>
        <p:spPr>
          <a:xfrm>
            <a:off x="621792" y="6301125"/>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70"/>
              <a:buFont typeface="Arial"/>
              <a:buNone/>
            </a:pPr>
            <a:r>
              <a:rPr lang="en-US" sz="1070" b="1" i="0" u="none" strike="noStrike" cap="none">
                <a:solidFill>
                  <a:srgbClr val="1F3D5B"/>
                </a:solidFill>
                <a:latin typeface="Arial"/>
                <a:ea typeface="Arial"/>
                <a:cs typeface="Arial"/>
                <a:sym typeface="Arial"/>
              </a:rPr>
              <a:t>Để đảm bảo quyền lợi tốt nhất cho Quý khách, An Bình áp dụng các chính sách sau:</a:t>
            </a:r>
            <a:endParaRPr sz="1000" b="1" i="0" u="none" strike="noStrike" cap="none">
              <a:solidFill>
                <a:schemeClr val="dk1"/>
              </a:solidFill>
              <a:latin typeface="Arial"/>
              <a:ea typeface="Arial"/>
              <a:cs typeface="Arial"/>
              <a:sym typeface="Arial"/>
            </a:endParaRPr>
          </a:p>
        </p:txBody>
      </p:sp>
      <p:sp>
        <p:nvSpPr>
          <p:cNvPr id="41" name="Google Shape;41;p1"/>
          <p:cNvSpPr/>
          <p:nvPr/>
        </p:nvSpPr>
        <p:spPr>
          <a:xfrm>
            <a:off x="621792" y="6813188"/>
            <a:ext cx="4269232" cy="2339955"/>
          </a:xfrm>
          <a:prstGeom prst="rect">
            <a:avLst/>
          </a:prstGeom>
          <a:noFill/>
          <a:ln w="9525" cap="flat" cmpd="sng">
            <a:solidFill>
              <a:schemeClr val="accent6"/>
            </a:solidFill>
            <a:prstDash val="solid"/>
            <a:round/>
            <a:headEnd type="none" w="sm" len="sm"/>
            <a:tailEnd type="none" w="sm" len="sm"/>
          </a:ln>
        </p:spPr>
        <p:txBody>
          <a:bodyPr spcFirstLastPara="1" wrap="square" lIns="91425" tIns="109725" rIns="45700" bIns="1250" anchor="t" anchorCtr="0">
            <a:normAutofit/>
          </a:bodyPr>
          <a:lstStyle/>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Giá trị trọn gói: </a:t>
            </a:r>
            <a:r>
              <a:rPr lang="en-US" sz="1100" b="0" i="0" u="none" strike="noStrike" cap="none">
                <a:solidFill>
                  <a:srgbClr val="25313C"/>
                </a:solidFill>
                <a:latin typeface="Arial"/>
                <a:ea typeface="Arial"/>
                <a:cs typeface="Arial"/>
                <a:sym typeface="Arial"/>
              </a:rPr>
              <a:t>Đơn giá nêu trên là giá giao tận nơi theo khối lượng và địa chỉ giao hàng của báo giá này; không phát sinh thêm phí vận chuyển hoặc chi phí ẩn.</a:t>
            </a:r>
            <a:endParaRPr sz="1100" b="0" i="0" u="none" strike="noStrike" cap="none">
              <a:solidFill>
                <a:srgbClr val="000000"/>
              </a:solidFill>
              <a:latin typeface="Arial"/>
              <a:ea typeface="Arial"/>
              <a:cs typeface="Arial"/>
              <a:sym typeface="Arial"/>
            </a:endParaRPr>
          </a:p>
          <a:p>
            <a:pPr marL="114300" marR="0" lvl="0" indent="-114300" algn="l" rtl="0">
              <a:lnSpc>
                <a:spcPct val="15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Hiệu lực: </a:t>
            </a:r>
            <a:r>
              <a:rPr lang="en-US" sz="1100" b="0" i="0" u="none" strike="noStrike" cap="none">
                <a:solidFill>
                  <a:srgbClr val="25313C"/>
                </a:solidFill>
                <a:latin typeface="Arial"/>
                <a:ea typeface="Arial"/>
                <a:cs typeface="Arial"/>
                <a:sym typeface="Arial"/>
              </a:rPr>
              <a:t>Báo giá có giá trị trong vòng 01 ngày kể từ ngày gửi.</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giá: </a:t>
            </a:r>
            <a:r>
              <a:rPr lang="en-US" sz="1100" b="0" i="0" u="none" strike="noStrike" cap="none">
                <a:solidFill>
                  <a:srgbClr val="25313C"/>
                </a:solidFill>
                <a:latin typeface="Arial"/>
                <a:ea typeface="Arial"/>
                <a:cs typeface="Arial"/>
                <a:sym typeface="Arial"/>
              </a:rPr>
              <a:t>Đơn hàng tối thiểu từ 01 bao 25 kg. Tổng khối lượng từ 02 tấn được hưởng giá sỉ, có thể gộp nhiều mã sản phẩm cho một đơn hàng.</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vận chuyển: </a:t>
            </a:r>
            <a:r>
              <a:rPr lang="en-US" sz="1100" b="0" i="0" u="none" strike="noStrike" cap="none">
                <a:solidFill>
                  <a:srgbClr val="25313C"/>
                </a:solidFill>
                <a:latin typeface="Arial"/>
                <a:ea typeface="Arial"/>
                <a:cs typeface="Arial"/>
                <a:sym typeface="Arial"/>
              </a:rPr>
              <a:t>Giao hàng tận nơi theo địa chỉ chỉ định; chi phí giao hàng đã bao gồm trong đơn giá.</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chemeClr val="dk1"/>
              </a:buClr>
              <a:buSzPts val="970"/>
              <a:buFont typeface="Arial"/>
              <a:buChar char="•"/>
            </a:pPr>
            <a:r>
              <a:rPr lang="en-US" sz="1100" b="1" i="0" u="none" strike="noStrike" cap="none">
                <a:solidFill>
                  <a:schemeClr val="dk1"/>
                </a:solidFill>
                <a:latin typeface="Arial"/>
                <a:ea typeface="Arial"/>
                <a:cs typeface="Arial"/>
                <a:sym typeface="Arial"/>
              </a:rPr>
              <a:t>Phương thức thanh toán:</a:t>
            </a:r>
            <a:r>
              <a:rPr lang="en-US" sz="1100" b="0" i="0" u="none" strike="noStrike" cap="none">
                <a:solidFill>
                  <a:schemeClr val="dk1"/>
                </a:solidFill>
                <a:latin typeface="Arial"/>
                <a:ea typeface="Arial"/>
                <a:cs typeface="Arial"/>
                <a:sym typeface="Arial"/>
              </a:rPr>
              <a:t> Thanh toán 30% trước khi xuất kho và 70% còn lại sau khi hoàn tất nghiệm thu và nhận hàng.</a:t>
            </a:r>
            <a:endParaRPr sz="1100" b="0" i="0" u="none" strike="noStrike" cap="none">
              <a:solidFill>
                <a:srgbClr val="000000"/>
              </a:solidFill>
              <a:latin typeface="Arial"/>
              <a:ea typeface="Arial"/>
              <a:cs typeface="Arial"/>
              <a:sym typeface="Arial"/>
            </a:endParaRPr>
          </a:p>
        </p:txBody>
      </p:sp>
      <p:sp>
        <p:nvSpPr>
          <p:cNvPr id="42" name="Google Shape;42;p1"/>
          <p:cNvSpPr/>
          <p:nvPr/>
        </p:nvSpPr>
        <p:spPr>
          <a:xfrm>
            <a:off x="4978166" y="6822333"/>
            <a:ext cx="2049739" cy="256032"/>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Ngày 25 tháng 06 năm 2026</a:t>
            </a:r>
            <a:endParaRPr sz="1040" b="0" i="0" u="none" strike="noStrike" cap="none">
              <a:solidFill>
                <a:schemeClr val="dk1"/>
              </a:solidFill>
              <a:latin typeface="Arial"/>
              <a:ea typeface="Arial"/>
              <a:cs typeface="Arial"/>
              <a:sym typeface="Arial"/>
            </a:endParaRPr>
          </a:p>
        </p:txBody>
      </p:sp>
      <p:sp>
        <p:nvSpPr>
          <p:cNvPr id="43" name="Google Shape;43;p1"/>
          <p:cNvSpPr/>
          <p:nvPr/>
        </p:nvSpPr>
        <p:spPr>
          <a:xfrm>
            <a:off x="5065776" y="7151517"/>
            <a:ext cx="1920240" cy="530352"/>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1000" tIns="1000" rIns="1000" bIns="1000" anchor="ctr" anchorCtr="0">
            <a:normAutofit/>
          </a:bodyPr>
          <a:lstStyle/>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CÔNG TY TNHH</a:t>
            </a:r>
            <a:endParaRPr sz="11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AN BÌNH CHEMTECH</a:t>
            </a:r>
            <a:endParaRPr sz="1120" b="0" i="0" u="none" strike="noStrike" cap="none">
              <a:solidFill>
                <a:schemeClr val="dk1"/>
              </a:solidFill>
              <a:latin typeface="Arial"/>
              <a:ea typeface="Arial"/>
              <a:cs typeface="Arial"/>
              <a:sym typeface="Arial"/>
            </a:endParaRPr>
          </a:p>
        </p:txBody>
      </p:sp>
      <p:pic>
        <p:nvPicPr>
          <p:cNvPr id="44" name="Google Shape;44;p1" descr="/mnt/data/bao_media/image2.png"/>
          <p:cNvPicPr preferRelativeResize="0"/>
          <p:nvPr/>
        </p:nvPicPr>
        <p:blipFill rotWithShape="1">
          <a:blip r:embed="rId5">
            <a:alphaModFix/>
          </a:blip>
          <a:srcRect l="0" t="0" r="0" b="0"/>
          <a:stretch/>
        </p:blipFill>
        <p:spPr>
          <a:xfrm>
            <a:off x="5340096" y="7736733"/>
            <a:ext cx="1325880" cy="1325880"/>
          </a:xfrm>
          <a:prstGeom prst="rect">
            <a:avLst/>
          </a:prstGeom>
          <a:noFill/>
          <a:ln>
            <a:noFill/>
          </a:ln>
        </p:spPr>
      </p:pic>
      <p:sp>
        <p:nvSpPr>
          <p:cNvPr id="45" name="Google Shape;45;p1"/>
          <p:cNvSpPr/>
          <p:nvPr/>
        </p:nvSpPr>
        <p:spPr>
          <a:xfrm>
            <a:off x="621792" y="9505188"/>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ctr" rtl="0">
              <a:lnSpc>
                <a:spcPct val="100000"/>
              </a:lnSpc>
              <a:spcBef>
                <a:spcPts val="0"/>
              </a:spcBef>
              <a:spcAft>
                <a:spcPts val="0"/>
              </a:spcAft>
              <a:buClr>
                <a:srgbClr val="000000"/>
              </a:buClr>
              <a:buSzPts val="1070"/>
              <a:buFont typeface="Arial"/>
              <a:buNone/>
            </a:pPr>
            <a:r>
              <a:rPr lang="en-US" sz="1070" b="0" i="0" u="none" strike="noStrike" cap="none">
                <a:solidFill>
                  <a:srgbClr val="1F3D5B"/>
                </a:solidFill>
                <a:latin typeface="Arial"/>
                <a:ea typeface="Arial"/>
                <a:cs typeface="Arial"/>
                <a:sym typeface="Arial"/>
              </a:rPr>
              <a:t>Chúng tôi rất mong nhận được phản hồi từ Quý công ty để sớm có cơ hội đồng hành cùng sự phát triển của Quý vị.</a:t>
            </a:r>
            <a:endParaRPr sz="1000" b="0" i="0" u="none" strike="noStrike" cap="none">
              <a:solidFill>
                <a:schemeClr val="dk1"/>
              </a:solidFill>
              <a:latin typeface="Arial"/>
              <a:ea typeface="Arial"/>
              <a:cs typeface="Arial"/>
              <a:sym typeface="Arial"/>
            </a:endParaRPr>
          </a:p>
        </p:txBody>
      </p:sp>
      <p:sp>
        <p:nvSpPr>
          <p:cNvPr id="46" name="Google Shape;46;p1"/>
          <p:cNvSpPr/>
          <p:nvPr/>
        </p:nvSpPr>
        <p:spPr>
          <a:xfrm>
            <a:off x="2598736" y="2159828"/>
            <a:ext cx="2474342" cy="16823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250" b="1" i="0" u="none" strike="noStrike" cap="none">
                <a:solidFill>
                  <a:srgbClr val="245F80"/>
                </a:solidFill>
                <a:latin typeface="Arial"/>
                <a:ea typeface="Arial"/>
                <a:cs typeface="Arial"/>
                <a:sym typeface="Arial"/>
              </a:rPr>
              <a:t>ABC-0001/QT/2606/01</a:t>
            </a:r>
            <a:endParaRPr sz="1250" b="0" i="0" u="none" strike="noStrike" cap="none">
              <a:solidFill>
                <a:srgbClr val="000000"/>
              </a:solidFill>
              <a:latin typeface="Arial"/>
              <a:ea typeface="Arial"/>
              <a:cs typeface="Arial"/>
              <a:sym typeface="Arial"/>
            </a:endParaRPr>
          </a:p>
        </p:txBody>
      </p:sp>
      <p:sp>
        <p:nvSpPr>
          <p:cNvPr id="47" name="Google Shape;47;p1"/>
          <p:cNvSpPr/>
          <p:nvPr/>
        </p:nvSpPr>
        <p:spPr>
          <a:xfrm>
            <a:off x="530352" y="219457"/>
            <a:ext cx="5899033" cy="15406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1F3D5B"/>
                </a:solidFill>
                <a:latin typeface="Arial"/>
                <a:ea typeface="Arial"/>
                <a:cs typeface="Arial"/>
                <a:sym typeface="Arial"/>
              </a:rPr>
              <a:t>An Bình Chemtech - Đối tác tin cậy cho giải pháp phụ gia thực phẩm</a:t>
            </a:r>
            <a:endParaRPr sz="1000" b="0" i="0" u="none" strike="noStrike" cap="none">
              <a:solidFill>
                <a:schemeClr val="dk1"/>
              </a:solidFill>
              <a:latin typeface="Arial"/>
              <a:ea typeface="Arial"/>
              <a:cs typeface="Arial"/>
              <a:sym typeface="Arial"/>
            </a:endParaRPr>
          </a:p>
        </p:txBody>
      </p:sp>
      <p:sp>
        <p:nvSpPr>
          <p:cNvPr id="48" name="Google Shape;48;p1"/>
          <p:cNvSpPr/>
          <p:nvPr/>
        </p:nvSpPr>
        <p:spPr>
          <a:xfrm>
            <a:off x="3926431" y="3996837"/>
            <a:ext cx="913562"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Quy cách</a:t>
            </a:r>
            <a:endParaRPr sz="10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(kg/bao)</a:t>
            </a:r>
            <a:endParaRPr sz="1020" b="0" i="0" u="none" strike="noStrike" cap="none">
              <a:solidFill>
                <a:schemeClr val="dk1"/>
              </a:solidFill>
              <a:latin typeface="Arial"/>
              <a:ea typeface="Arial"/>
              <a:cs typeface="Arial"/>
              <a:sym typeface="Arial"/>
            </a:endParaRPr>
          </a:p>
        </p:txBody>
      </p:sp>
      <p:sp>
        <p:nvSpPr>
          <p:cNvPr id="49" name="Google Shape;49;p1"/>
          <p:cNvSpPr/>
          <p:nvPr/>
        </p:nvSpPr>
        <p:spPr>
          <a:xfrm>
            <a:off x="3926431" y="4472325"/>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0" name="Google Shape;50;p1"/>
          <p:cNvSpPr/>
          <p:nvPr/>
        </p:nvSpPr>
        <p:spPr>
          <a:xfrm>
            <a:off x="3926431" y="4892949"/>
            <a:ext cx="913616"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1" name="Google Shape;51;p1"/>
          <p:cNvSpPr/>
          <p:nvPr/>
        </p:nvSpPr>
        <p:spPr>
          <a:xfrm>
            <a:off x="3926431" y="5313573"/>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2026-03-15T16:30:29Z</dcterms:created>
  <dc:creator>OpenAI</dc:creator>
</cp:coreProperties>
</file>